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040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500" b="1">
                <a:solidFill>
                  <a:srgbClr val="192130"/>
                </a:solidFill>
                <a:latin typeface="Aptos Display"/>
              </a:rPr>
              <a:t>AI Process Transformation Lookback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8138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5C6779"/>
                </a:solidFill>
                <a:latin typeface="Aptos"/>
              </a:rPr>
              <a:t>Kết quả pilot thay thế một phần quy trình thủ công bằng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2377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00897B"/>
                </a:solidFill>
                <a:latin typeface="Aptos"/>
              </a:rPr>
              <a:t>Kết luận tổng thể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75104"/>
            <a:ext cx="6858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92130"/>
                </a:solidFill>
                <a:latin typeface="Aptos"/>
              </a:rPr>
              <a:t>AI pilot cho thấy hiệu quả rõ ràng: giảm mạnh human effort, chất lượng BE rất tốt, FE-BE đã có ROI dương nhưng cần tăng kiểm soát CSS/layout và logic flow trước khi scale rộng.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3154680"/>
            <a:ext cx="260604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3154680"/>
            <a:ext cx="73152" cy="1261872"/>
          </a:xfrm>
          <a:prstGeom prst="rect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319272"/>
            <a:ext cx="23134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NĂNG SUẤT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593592"/>
            <a:ext cx="231343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79756"/>
                </a:solidFill>
                <a:latin typeface="Aptos Display"/>
              </a:rPr>
              <a:t>60-90%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032504"/>
            <a:ext cx="2313432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Giảm human effort so với traditional ở các anken có baseline.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154680"/>
            <a:ext cx="260604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3154680"/>
            <a:ext cx="73152" cy="126187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3319272"/>
            <a:ext cx="23134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CHẤT LƯỢNG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593592"/>
            <a:ext cx="231343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00897B"/>
                </a:solidFill>
                <a:latin typeface="Aptos Display"/>
              </a:rPr>
              <a:t>1.4%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032504"/>
            <a:ext cx="2313432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12 bugs / 846 testcases; BE-only đạt 0 bug FUT.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154680"/>
            <a:ext cx="260604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154680"/>
            <a:ext cx="73152" cy="1261872"/>
          </a:xfrm>
          <a:prstGeom prst="rect">
            <a:avLst/>
          </a:prstGeom>
          <a:solidFill>
            <a:srgbClr val="3E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19272"/>
            <a:ext cx="23134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CAN THIỆP 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93592"/>
            <a:ext cx="2313432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E6FB2"/>
                </a:solidFill>
                <a:latin typeface="Aptos Display"/>
              </a:rPr>
              <a:t>1-2h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32504"/>
            <a:ext cx="2313432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Coding phase gần như tự chủ; human tập trung review/spec/FUT.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3154680"/>
            <a:ext cx="2542032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3416" y="3154680"/>
            <a:ext cx="73152" cy="1261872"/>
          </a:xfrm>
          <a:prstGeom prst="rect">
            <a:avLst/>
          </a:prstGeom>
          <a:solidFill>
            <a:srgbClr val="E1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3319272"/>
            <a:ext cx="224942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593592"/>
            <a:ext cx="2249424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E18033"/>
                </a:solidFill>
                <a:latin typeface="Aptos Display"/>
              </a:rPr>
              <a:t>44-69%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4032504"/>
            <a:ext cx="2249424" cy="30175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FUT execution chiếm phần lớn human effort cần xử lý tiếp.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1444752"/>
            <a:ext cx="3566160" cy="1325880"/>
          </a:xfrm>
          <a:prstGeom prst="roundRect">
            <a:avLst/>
          </a:prstGeom>
          <a:solidFill>
            <a:srgbClr val="E8F7ED"/>
          </a:solidFill>
          <a:ln w="10160">
            <a:solidFill>
              <a:srgbClr val="E8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162763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00" b="1">
                <a:solidFill>
                  <a:srgbClr val="379756"/>
                </a:solidFill>
                <a:latin typeface="Aptos"/>
              </a:rPr>
              <a:t>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1920240"/>
            <a:ext cx="2971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192130"/>
                </a:solidFill>
                <a:latin typeface="Aptos"/>
              </a:rPr>
              <a:t>Scale ngay cho BE; mở rộng FE-BE complexity thấp-vừa với review FE output và cập nhật Skills.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Nguồn: tieuchidanhgia.docx, dulieu.docx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00897B"/>
                </a:solidFill>
                <a:latin typeface="Aptos"/>
              </a:rPr>
              <a:t>01 / ĐÁNH GIÁ 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600" b="1">
                <a:solidFill>
                  <a:srgbClr val="192130"/>
                </a:solidFill>
                <a:latin typeface="Aptos Display"/>
              </a:rPr>
              <a:t>Pilot AI đạt hiệu quả rõ ràng, nhưng chưa nên scale mù cho mọi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6779"/>
                </a:solidFill>
                <a:latin typeface="Aptos"/>
              </a:rPr>
              <a:t>Nhìn theo 5 trục kiểm chứng: throughput, quality, human involvement, cost, technical asset.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221284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73152" cy="1170432"/>
          </a:xfrm>
          <a:prstGeom prst="rect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11680"/>
            <a:ext cx="19202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79756"/>
                </a:solidFill>
                <a:latin typeface="Aptos Display"/>
              </a:rPr>
              <a:t>Rất tốt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50591"/>
            <a:ext cx="1920240" cy="2103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BE giảm ~60-90% effort; FE-BE ARNDEV-13059 giảm ~90.1%.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572768"/>
            <a:ext cx="221284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572768"/>
            <a:ext cx="73152" cy="117043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173736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011680"/>
            <a:ext cx="19202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00897B"/>
                </a:solidFill>
                <a:latin typeface="Aptos Display"/>
              </a:rPr>
              <a:t>BE xuất sắc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450591"/>
            <a:ext cx="1920240" cy="2103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BE: 260 TC, 0 bug. FE-BE: 12 bugs, chủ yếu CSS/logic.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1572768"/>
            <a:ext cx="221284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1572768"/>
            <a:ext cx="73152" cy="1170432"/>
          </a:xfrm>
          <a:prstGeom prst="rect">
            <a:avLst/>
          </a:prstGeom>
          <a:solidFill>
            <a:srgbClr val="3E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1" y="173736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HUMAN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1" y="2011680"/>
            <a:ext cx="19202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3E6FB2"/>
                </a:solidFill>
                <a:latin typeface="Aptos Display"/>
              </a:rPr>
              <a:t>Đổi trọng tâm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1" y="2450591"/>
            <a:ext cx="1920240" cy="2103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Human ít can thiệp coding, tập trung spec/plan review và FUT.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572768"/>
            <a:ext cx="221284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1572768"/>
            <a:ext cx="73152" cy="1170432"/>
          </a:xfrm>
          <a:prstGeom prst="rect">
            <a:avLst/>
          </a:prstGeom>
          <a:solidFill>
            <a:srgbClr val="736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1" y="1737360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COST /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2011680"/>
            <a:ext cx="19202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7360B2"/>
                </a:solidFill>
                <a:latin typeface="Aptos Display"/>
              </a:rPr>
              <a:t>Dương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2450591"/>
            <a:ext cx="1920240" cy="2103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Token cao ở task retry nhiều, nhưng ROI vẫn tích cực trên 4 anken.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1572768"/>
            <a:ext cx="148132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04120" y="1572768"/>
            <a:ext cx="73152" cy="1170432"/>
          </a:xfrm>
          <a:prstGeom prst="rect">
            <a:avLst/>
          </a:prstGeom>
          <a:solidFill>
            <a:srgbClr val="E1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8712" y="1737360"/>
            <a:ext cx="1188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5C6779"/>
                </a:solidFill>
                <a:latin typeface="Aptos"/>
              </a:rPr>
              <a:t>ASSET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2011680"/>
            <a:ext cx="11887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200" b="1">
                <a:solidFill>
                  <a:srgbClr val="E18033"/>
                </a:solidFill>
                <a:latin typeface="Aptos Display"/>
              </a:rPr>
              <a:t>Có nền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2450591"/>
            <a:ext cx="1188720" cy="2103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30" b="0">
                <a:solidFill>
                  <a:srgbClr val="192130"/>
                </a:solidFill>
                <a:latin typeface="Aptos"/>
              </a:rPr>
              <a:t>9 agent phases + Skills tái sử dụng.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127248"/>
            <a:ext cx="5349240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3467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379756"/>
                </a:solidFill>
                <a:latin typeface="Aptos"/>
              </a:rPr>
              <a:t>Điểm đã hoạt động tốt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" y="3785615"/>
            <a:ext cx="82296" cy="82296"/>
          </a:xfrm>
          <a:prstGeom prst="ellipse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3730752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BE-only sẵn sàng scale: 0% bug FUT trên 2 anken.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" y="4201668"/>
            <a:ext cx="82296" cy="82296"/>
          </a:xfrm>
          <a:prstGeom prst="ellipse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146804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Coding intervention thấp: chỉ 1-2h/anken.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" y="4617720"/>
            <a:ext cx="82296" cy="82296"/>
          </a:xfrm>
          <a:prstGeom prst="ellipse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62856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Study time giảm theo lần áp dụng: 5h xuống 1h nhờ tái sử dụng context/Skills.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" y="5033772"/>
            <a:ext cx="82296" cy="82296"/>
          </a:xfrm>
          <a:prstGeom prst="ellipse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978908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Design OpenAPI ổn định: ~6 phút, retry thấp.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3127248"/>
            <a:ext cx="5349240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3346704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E18033"/>
                </a:solidFill>
                <a:latin typeface="Aptos"/>
              </a:rPr>
              <a:t>Điểm cần kiểm soát trước khi mở rộng</a:t>
            </a:r>
          </a:p>
        </p:txBody>
      </p:sp>
      <p:sp>
        <p:nvSpPr>
          <p:cNvPr id="43" name="Oval 42"/>
          <p:cNvSpPr/>
          <p:nvPr/>
        </p:nvSpPr>
        <p:spPr>
          <a:xfrm>
            <a:off x="6483096" y="3785615"/>
            <a:ext cx="82296" cy="82296"/>
          </a:xfrm>
          <a:prstGeom prst="ellipse">
            <a:avLst/>
          </a:prstGeom>
          <a:solidFill>
            <a:srgbClr val="E1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7688" y="3730752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FUT execution là bottleneck lớn nhất: 44-69% human effort.</a:t>
            </a:r>
          </a:p>
        </p:txBody>
      </p:sp>
      <p:sp>
        <p:nvSpPr>
          <p:cNvPr id="45" name="Oval 44"/>
          <p:cNvSpPr/>
          <p:nvPr/>
        </p:nvSpPr>
        <p:spPr>
          <a:xfrm>
            <a:off x="6483096" y="4201668"/>
            <a:ext cx="82296" cy="82296"/>
          </a:xfrm>
          <a:prstGeom prst="ellipse">
            <a:avLst/>
          </a:prstGeom>
          <a:solidFill>
            <a:srgbClr val="E1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4146804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FE-BE còn lỗi CSS/layout và logic flow ở scope phức tạp.</a:t>
            </a:r>
          </a:p>
        </p:txBody>
      </p:sp>
      <p:sp>
        <p:nvSpPr>
          <p:cNvPr id="47" name="Oval 46"/>
          <p:cNvSpPr/>
          <p:nvPr/>
        </p:nvSpPr>
        <p:spPr>
          <a:xfrm>
            <a:off x="6483096" y="4617720"/>
            <a:ext cx="82296" cy="82296"/>
          </a:xfrm>
          <a:prstGeom prst="ellipse">
            <a:avLst/>
          </a:prstGeom>
          <a:solidFill>
            <a:srgbClr val="E1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7688" y="4562856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Env issues gây waste lớn: ~200+ phút và nhiều build retry.</a:t>
            </a:r>
          </a:p>
        </p:txBody>
      </p:sp>
      <p:sp>
        <p:nvSpPr>
          <p:cNvPr id="49" name="Oval 48"/>
          <p:cNvSpPr/>
          <p:nvPr/>
        </p:nvSpPr>
        <p:spPr>
          <a:xfrm>
            <a:off x="6483096" y="5033772"/>
            <a:ext cx="82296" cy="82296"/>
          </a:xfrm>
          <a:prstGeom prst="ellipse">
            <a:avLst/>
          </a:prstGeom>
          <a:solidFill>
            <a:srgbClr val="E18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47688" y="4978908"/>
            <a:ext cx="4617720" cy="4160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Observability chưa đủ: thiếu telemetry/transcript nên khó trace agent behavior.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5870448"/>
            <a:ext cx="10835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1">
                <a:solidFill>
                  <a:srgbClr val="192130"/>
                </a:solidFill>
                <a:latin typeface="Aptos"/>
              </a:rPr>
              <a:t>Định hướng: scale có điều kiện, ưu tiên BE và FE-BE complexity thấp-vừa; song song xử lý env, telemetry, Skills feedback loop và FUT automation.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Nguồn: tieuchidanhgia.docx, dulieu.docx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00897B"/>
                </a:solidFill>
                <a:latin typeface="Aptos"/>
              </a:rPr>
              <a:t>02 / DETAIL CÁC CHỈ SỐ QCD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600" b="1">
                <a:solidFill>
                  <a:srgbClr val="192130"/>
                </a:solidFill>
                <a:latin typeface="Aptos Display"/>
              </a:rPr>
              <a:t>QCD cho thấy BE đã proven, FE-BE có ROI nhưng cần guardrail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6779"/>
                </a:solidFill>
                <a:latin typeface="Aptos"/>
              </a:rPr>
              <a:t>Q = Quality, C = Cost/ROI, D = Delivery/Throughput.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66160" cy="1828800"/>
          </a:xfrm>
          <a:prstGeom prst="roundRect">
            <a:avLst/>
          </a:prstGeom>
          <a:solidFill>
            <a:srgbClr val="E6F7F4"/>
          </a:solidFill>
          <a:ln w="10160">
            <a:solidFill>
              <a:srgbClr val="E6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00897B"/>
                </a:solidFill>
                <a:latin typeface="Aptos"/>
              </a:rPr>
              <a:t>Q /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645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00897B"/>
                </a:solidFill>
                <a:latin typeface="Aptos Display"/>
              </a:rPr>
              <a:t>12 / 846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Bug rate tổng ~1.4%; BE-only 0%, FE-BE ~2.0%.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07792"/>
            <a:ext cx="2788920" cy="109728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907792"/>
            <a:ext cx="2398471" cy="109728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06624"/>
            <a:ext cx="2788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846 AI testcases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3566160" cy="1828800"/>
          </a:xfrm>
          <a:prstGeom prst="roundRect">
            <a:avLst/>
          </a:prstGeom>
          <a:solidFill>
            <a:srgbClr val="E8F0FC"/>
          </a:solidFill>
          <a:ln w="10160">
            <a:solidFill>
              <a:srgbClr val="E8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27632"/>
            <a:ext cx="19202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3E6FB2"/>
                </a:solidFill>
                <a:latin typeface="Aptos"/>
              </a:rPr>
              <a:t>C / Cost &amp;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20240"/>
            <a:ext cx="20574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3E6FB2"/>
                </a:solidFill>
                <a:latin typeface="Aptos Display"/>
              </a:rPr>
              <a:t>ROI dương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23160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Token 1.2M-8.4M/anken; retry/env waste còn room tối ưu 30-40%.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2907792"/>
            <a:ext cx="2788920" cy="109728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44568" y="2907792"/>
            <a:ext cx="1896465" cy="109728"/>
          </a:xfrm>
          <a:prstGeom prst="roundRect">
            <a:avLst/>
          </a:prstGeom>
          <a:solidFill>
            <a:srgbClr val="3E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706624"/>
            <a:ext cx="2788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Cost optimization 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1417320"/>
            <a:ext cx="3566160" cy="1828800"/>
          </a:xfrm>
          <a:prstGeom prst="roundRect">
            <a:avLst/>
          </a:prstGeom>
          <a:solidFill>
            <a:srgbClr val="E8F7ED"/>
          </a:solidFill>
          <a:ln w="10160">
            <a:solidFill>
              <a:srgbClr val="E8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627632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379756"/>
                </a:solidFill>
                <a:latin typeface="Aptos"/>
              </a:rPr>
              <a:t>D /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920240"/>
            <a:ext cx="20116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400" b="1">
                <a:solidFill>
                  <a:srgbClr val="379756"/>
                </a:solidFill>
                <a:latin typeface="Aptos Display"/>
              </a:rPr>
              <a:t>60-90%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2423160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192130"/>
                </a:solidFill>
                <a:latin typeface="Aptos"/>
              </a:rPr>
              <a:t>Human effort reduction ở các anken có baseline; coding phase 1-2h.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5" y="2907792"/>
            <a:ext cx="2788920" cy="109728"/>
          </a:xfrm>
          <a:prstGeom prst="round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66175" y="2907792"/>
            <a:ext cx="2286914" cy="109728"/>
          </a:xfrm>
          <a:prstGeom prst="roundRect">
            <a:avLst/>
          </a:prstGeom>
          <a:solidFill>
            <a:srgbClr val="379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706624"/>
            <a:ext cx="2788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Effort saved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361188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00897B"/>
                </a:solidFill>
                <a:latin typeface="Aptos"/>
              </a:rPr>
              <a:t>Quality by anken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4360" y="3886200"/>
          <a:ext cx="544068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502920"/>
                <a:gridCol w="502920"/>
                <a:gridCol w="685800"/>
                <a:gridCol w="1828800"/>
              </a:tblGrid>
              <a:tr h="314553"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Anken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TC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Bug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Bug rate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Đánh giá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</a:tr>
              <a:tr h="314553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ARNDEV-13671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Xuất sắc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ARNDEV-13059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FE-BE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485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1.9%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Cần review FE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  <a:tr h="314553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ARNDEV-13578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Xuất sắc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ARNDEV-13951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FE-BE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101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3.0%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80" b="0">
                          <a:solidFill>
                            <a:srgbClr val="192130"/>
                          </a:solidFill>
                          <a:latin typeface="Aptos"/>
                        </a:rPr>
                        <a:t>Logic guardrail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336792" y="3611880"/>
            <a:ext cx="2560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379756"/>
                </a:solidFill>
                <a:latin typeface="Aptos"/>
              </a:rPr>
              <a:t>Delivery / Cost by anken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09360" y="3886200"/>
          <a:ext cx="509320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58368"/>
                <a:gridCol w="868680"/>
                <a:gridCol w="777240"/>
                <a:gridCol w="822960"/>
                <a:gridCol w="822960"/>
              </a:tblGrid>
              <a:tr h="314553"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Anken</a:t>
                      </a:r>
                    </a:p>
                  </a:txBody>
                  <a:tcPr anchor="ctr">
                    <a:solidFill>
                      <a:srgbClr val="379756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anchor="ctr">
                    <a:solidFill>
                      <a:srgbClr val="379756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Traditional</a:t>
                      </a:r>
                    </a:p>
                  </a:txBody>
                  <a:tcPr anchor="ctr">
                    <a:solidFill>
                      <a:srgbClr val="379756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AI human</a:t>
                      </a:r>
                    </a:p>
                  </a:txBody>
                  <a:tcPr anchor="ctr">
                    <a:solidFill>
                      <a:srgbClr val="379756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Saved</a:t>
                      </a:r>
                    </a:p>
                  </a:txBody>
                  <a:tcPr anchor="ctr">
                    <a:solidFill>
                      <a:srgbClr val="379756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Saving</a:t>
                      </a:r>
                    </a:p>
                  </a:txBody>
                  <a:tcPr anchor="ctr">
                    <a:solidFill>
                      <a:srgbClr val="379756"/>
                    </a:solidFill>
                  </a:tcPr>
                </a:tc>
              </a:tr>
              <a:tr h="314553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ARNDEV-13671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18.33 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2.08 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16.25 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88.6%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ARNDEV-13059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FE-BE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64.01 MD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6.33 MD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57.68 MD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90.1%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  <a:tr h="314553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ARNDEV-13578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5.35 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1.67 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3.68 MD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68.8%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ARNDEV-13951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FE-BE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3 MD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0" b="0">
                          <a:solidFill>
                            <a:srgbClr val="192130"/>
                          </a:solidFill>
                          <a:latin typeface="Aptos"/>
                        </a:rPr>
                        <a:t>Token cao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21792" y="5815584"/>
            <a:ext cx="108356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1">
                <a:solidFill>
                  <a:srgbClr val="192130"/>
                </a:solidFill>
                <a:latin typeface="Aptos"/>
              </a:rPr>
              <a:t>Insight chính: BE nên được scale ngay; FE-BE vẫn có hiệu quả cao nhưng cần visual review, CSS token validation và flow validation để khóa bug lặp lại.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Nguồn: tieuchidanhgia.docx, dulieu.docx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00897B"/>
                </a:solidFill>
                <a:latin typeface="Aptos"/>
              </a:rPr>
              <a:t>03 / CÁC ISSUE LỚN VÀ CÁCH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600" b="1">
                <a:solidFill>
                  <a:srgbClr val="192130"/>
                </a:solidFill>
                <a:latin typeface="Aptos Display"/>
              </a:rPr>
              <a:t>6 nhóm issue đang làm giảm hiệu quả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6779"/>
                </a:solidFill>
                <a:latin typeface="Aptos"/>
              </a:rPr>
              <a:t>Ưu tiên xử lý các nguyên nhân gây retry, bug lặp lại và thiếu traceability.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81328"/>
          <a:ext cx="9144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37360"/>
                <a:gridCol w="1828800"/>
                <a:gridCol w="2788920"/>
                <a:gridCol w="960120"/>
              </a:tblGrid>
              <a:tr h="594360"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Issue lớn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Root cause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Cách giải quyết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594360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ENV issues
/mnt/d, JDK, proxy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200+ mins waste
13 build 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Chưa container hóa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Docker dev container
Pre-flight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Observability kém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Không trace được
AI behavior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Spawn issue
telemetry skip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Fix agent spawn
Mandatory telemetry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FE CSS/Layout bugs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9 CSS bugs
layout accuracy thấp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Context overflow
Figma extract sai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1 screen/session
CSS token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Code-BE retry cao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20 retry
~160 mins avg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Env fail + spotless
compile cascade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Exclude spotless
Incremental build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Plan scope miss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Bug lọt tới code
phase gây rework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LSP fail
gate verify skip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LSP fallback
Mandatory gate check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FUT agent instability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2-3 re-run/anken
thiếu testcase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Template sai
coverage check thiếu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Output template
TC completeness validator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800" b="0">
                          <a:solidFill>
                            <a:srgbClr val="192130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5806440"/>
            <a:ext cx="5303520" cy="475488"/>
          </a:xfrm>
          <a:prstGeom prst="roundRect">
            <a:avLst/>
          </a:prstGeom>
          <a:solidFill>
            <a:srgbClr val="FCEBEB"/>
          </a:solidFill>
          <a:ln w="10160"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934456"/>
            <a:ext cx="4846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C44141"/>
                </a:solidFill>
                <a:latin typeface="Aptos"/>
              </a:rPr>
              <a:t>Waste cần cắt ngay: env issues + build retry đang gây ~3M tokens và ~200+ phút lãng phí ở case nặng nhất.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806440"/>
            <a:ext cx="5440680" cy="475488"/>
          </a:xfrm>
          <a:prstGeom prst="roundRect">
            <a:avLst/>
          </a:prstGeom>
          <a:solidFill>
            <a:srgbClr val="E8F7ED"/>
          </a:solidFill>
          <a:ln w="10160">
            <a:solidFill>
              <a:srgbClr val="E8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5934456"/>
            <a:ext cx="4956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379756"/>
                </a:solidFill>
                <a:latin typeface="Aptos"/>
              </a:rPr>
              <a:t>5/6 bugs phân tích có thể phòng tránh bằng Skills: CSS validation, flow logic check, path normalization.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Nguồn: tieuchidanhgia.docx, dulieu.docx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00897B"/>
                </a:solidFill>
                <a:latin typeface="Aptos"/>
              </a:rPr>
              <a:t>04 / VIỆC TỒN ĐỌNG VÀ KẾ HOẠCH SẮP TỚI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600" b="1">
                <a:solidFill>
                  <a:srgbClr val="192130"/>
                </a:solidFill>
                <a:latin typeface="Aptos Display"/>
              </a:rPr>
              <a:t>Kế hoạch scale theo mức độ đã chứng minh và độ rủi 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6779"/>
                </a:solidFill>
                <a:latin typeface="Aptos"/>
              </a:rPr>
              <a:t>Tách thành việc làm ngay, việc chạy song song và việc R&amp;D sau khi đã có nền guardrail.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" y="1435608"/>
          <a:ext cx="894283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828800"/>
                <a:gridCol w="1965960"/>
                <a:gridCol w="2057400"/>
                <a:gridCol w="1783080"/>
                <a:gridCol w="960120"/>
              </a:tblGrid>
              <a:tr h="658368"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5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5" b="1">
                          <a:solidFill>
                            <a:srgbClr val="FFFFFF"/>
                          </a:solidFill>
                          <a:latin typeface="Aptos"/>
                        </a:rPr>
                        <a:t>Đề xuất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5" b="1">
                          <a:solidFill>
                            <a:srgbClr val="FFFFFF"/>
                          </a:solidFill>
                          <a:latin typeface="Aptos"/>
                        </a:rPr>
                        <a:t>Điều kiện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5" b="1">
                          <a:solidFill>
                            <a:srgbClr val="FFFFFF"/>
                          </a:solidFill>
                          <a:latin typeface="Aptos"/>
                        </a:rPr>
                        <a:t>Expected benefit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5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ctr"/>
                      <a:r>
                        <a:rPr sz="755" b="1">
                          <a:solidFill>
                            <a:srgbClr val="FFFFFF"/>
                          </a:solidFill>
                          <a:latin typeface="Aptos"/>
                        </a:rPr>
                        <a:t>Timeline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</a:tr>
              <a:tr h="658368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Scale AI cho
tất cả BE anken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Fix env container
Telemetry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Giảm 60-90% effort
0% FUT bug proven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Token cost
cần monitor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Ngay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Scale AI cho FE-BE
complexity thấp-vừa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Update CSS Skills
Review FE output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Giảm ~90% effort
Bug rate &lt;3%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FE bugs nếu complex
need visual review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Ngay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  <a:tr h="658368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Tự động hóa
FUT execution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FUT agent stable
Template chuẩn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Giảm 44-69%
human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Coverage gap
false positive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2-3 tháng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Chuẩn hóa Skills
cho team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Git version control
Training completed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Tái sử dụng cross-project
Onboarding nhanh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Over-engineering
conflict risk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Song song</a:t>
                      </a:r>
                    </a:p>
                  </a:txBody>
                  <a:tcPr anchor="ctr">
                    <a:solidFill>
                      <a:srgbClr val="F7F9FB"/>
                    </a:solidFill>
                  </a:tcPr>
                </a:tc>
              </a:tr>
              <a:tr h="658368"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Cải thiện Figma MCP
cho FE complex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Figma MCP v2
Context split strategy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FE accuracy &gt;90%
Giảm CSS bugs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R&amp;D effort cao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27432" bIns="27432" wrap="square"/>
                    <a:lstStyle/>
                    <a:p>
                      <a:pPr algn="l"/>
                      <a:r>
                        <a:rPr sz="755" b="0">
                          <a:solidFill>
                            <a:srgbClr val="192130"/>
                          </a:solidFill>
                          <a:latin typeface="Aptos"/>
                        </a:rPr>
                        <a:t>Sau 2-4 tuần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5596128"/>
            <a:ext cx="110185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42432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00897B"/>
                </a:solidFill>
                <a:latin typeface="Aptos"/>
              </a:rPr>
              <a:t>Tiêu chí chọn anken tiếp theo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724144"/>
            <a:ext cx="841248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192130"/>
                </a:solidFill>
                <a:latin typeface="Aptos"/>
              </a:rPr>
              <a:t>Ưu tiên BE-only hoặc BE-heavy; FE-BE nếu complexity vừa phải và có review output FE; cần baseline traditional effort; team đã có kinh nghiệm pilot; tạm chưa apply FE-only phức tạp/heavy animation.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Nguồn: tieuchidanhgia.docx, dulieu.docx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00" b="1">
                <a:solidFill>
                  <a:srgbClr val="00897B"/>
                </a:solidFill>
                <a:latin typeface="Aptos"/>
              </a:rPr>
              <a:t>05 / ORG SẮP TỚI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600" b="1">
                <a:solidFill>
                  <a:srgbClr val="192130"/>
                </a:solidFill>
                <a:latin typeface="Aptos Display"/>
              </a:rPr>
              <a:t>Org sắp tới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789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50" b="0">
                <a:solidFill>
                  <a:srgbClr val="5C6779"/>
                </a:solidFill>
                <a:latin typeface="Aptos"/>
              </a:rPr>
              <a:t>Phần này giữ title/khung trống để bổ sung sau.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378440" cy="4041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993392"/>
            <a:ext cx="4206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192130"/>
                </a:solidFill>
                <a:latin typeface="Aptos Display"/>
              </a:rPr>
              <a:t>Org structure / ownership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87168"/>
            <a:ext cx="1920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5C6779"/>
                </a:solidFill>
                <a:latin typeface="Aptos"/>
              </a:rPr>
              <a:t>Bổ sung sau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54680"/>
            <a:ext cx="2148840" cy="68580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38328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00897B"/>
                </a:solidFill>
                <a:latin typeface="Aptos"/>
              </a:rPr>
              <a:t>AI Enablement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3154680"/>
            <a:ext cx="2148840" cy="68580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38328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3E6FB2"/>
                </a:solidFill>
                <a:latin typeface="Aptos"/>
              </a:rPr>
              <a:t>Project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154680"/>
            <a:ext cx="2148840" cy="685800"/>
          </a:xfrm>
          <a:prstGeom prst="roundRect">
            <a:avLst/>
          </a:prstGeom>
          <a:solidFill>
            <a:srgbClr val="F7F9FB"/>
          </a:solidFill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383280"/>
            <a:ext cx="1783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1">
                <a:solidFill>
                  <a:srgbClr val="E18033"/>
                </a:solidFill>
                <a:latin typeface="Aptos"/>
              </a:rPr>
              <a:t>QA / Governance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77639" y="3493008"/>
            <a:ext cx="822961" cy="0"/>
          </a:xfrm>
          <a:prstGeom prst="line">
            <a:avLst/>
          </a:prstGeom>
          <a:ln w="1905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3493008"/>
            <a:ext cx="822960" cy="0"/>
          </a:xfrm>
          <a:prstGeom prst="line">
            <a:avLst/>
          </a:prstGeom>
          <a:ln w="1905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5C6779"/>
                </a:solidFill>
                <a:latin typeface="Aptos"/>
              </a:rPr>
              <a:t>Nguồn: tieuchidanhgia.docx, dulieu.docx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